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8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12192000" cy="6858000" type="wide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Relationship Id="rId12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230000" cy="6858000"/>
          </a:xfrm>
          <a:prstGeom prst="rect">
            <a:avLst/>
          </a:prstGeom>
          <a:solidFill>
            <a:srgbClr val="0087A5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760000" y="840000"/>
            <a:ext cx="10000000" cy="850000"/>
          </a:xfrm>
        </p:spPr>
        <p:txBody>
          <a:bodyPr wrap="square"/>
          <a:lstStyle/>
          <a:p>
            <a:r>
              <a:rPr lang="en-US" sz="3400" b="1">
                <a:solidFill>
                  <a:srgbClr val="0A3945"/>
                </a:solidFill>
              </a:rPr>
              <a:t>YAP Sdn Bhd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00000" y="1600000"/>
            <a:ext cx="5000000" cy="500000"/>
          </a:xfrm>
        </p:spPr>
        <p:txBody>
          <a:bodyPr wrap="square"/>
          <a:lstStyle/>
          <a:p>
            <a:r>
              <a:rPr lang="en-US" sz="1800">
                <a:solidFill>
                  <a:srgbClr val="516071"/>
                </a:solidFill>
              </a:rPr>
              <a:t>MDEC MDCG pitch deck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850000" y="2350000"/>
            <a:ext cx="5200000" cy="3200000"/>
          </a:xfrm>
        </p:spPr>
        <p:txBody>
          <a:bodyPr wrap="square"/>
          <a:lstStyle/>
          <a:p>
            <a:pPr marL="360000" indent="-180000">
              <a:buChar char="•"/>
            </a:pPr>
            <a:r>
              <a:rPr lang="en-US" sz="2000">
                <a:solidFill>
                  <a:srgbClr val="263238"/>
                </a:solidFill>
              </a:rPr>
              <a:t>Prepared for MDEC</a:t>
            </a:r>
            <a:endParaRPr lang="en-US" sz="2000"/>
          </a:p>
          <a:p>
            <a:pPr marL="360000" indent="-180000">
              <a:buChar char="•"/>
            </a:pPr>
            <a:r>
              <a:rPr lang="en-US" sz="2000">
                <a:solidFill>
                  <a:srgbClr val="263238"/>
                </a:solidFill>
              </a:rPr>
              <a:t>Sector: ICT</a:t>
            </a:r>
            <a:endParaRPr lang="en-US" sz="2000"/>
          </a:p>
          <a:p>
            <a:pPr marL="360000" indent="-180000">
              <a:buChar char="•"/>
            </a:pPr>
            <a:r>
              <a:rPr lang="en-US" sz="2000">
                <a:solidFill>
                  <a:srgbClr val="263238"/>
                </a:solidFill>
              </a:rPr>
              <a:t>Funding request: RM 250,000</a:t>
            </a:r>
            <a:endParaRPr lang="en-US" sz="2000"/>
          </a:p>
        </p:txBody>
      </p:sp>
      <p:sp>
        <p:nvSpPr>
          <p:cNvPr id="20" name="Shape 20"/>
          <p:cNvSpPr/>
          <p:nvPr/>
        </p:nvSpPr>
        <p:spPr>
          <a:xfrm>
            <a:off x="7000000" y="2200000"/>
            <a:ext cx="3600000" cy="3100000"/>
          </a:xfrm>
          <a:prstGeom prst="roundRect">
            <a:avLst/>
          </a:prstGeom>
          <a:solidFill>
            <a:srgbClr val="EAF5F7"/>
          </a:solidFill>
          <a:ln w="12700">
            <a:solidFill>
              <a:srgbClr val="0087A5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7240000" y="2520000"/>
            <a:ext cx="3100000" cy="620000"/>
          </a:xfrm>
        </p:spPr>
        <p:txBody>
          <a:bodyPr wrap="square"/>
          <a:lstStyle/>
          <a:p>
            <a:r>
              <a:rPr lang="en-US" sz="1900" b="1">
                <a:solidFill>
                  <a:srgbClr val="0A3945"/>
                </a:solidFill>
              </a:rPr>
              <a:t>Prepared for MDEC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240000" y="3340000"/>
            <a:ext cx="3100000" cy="620000"/>
          </a:xfrm>
        </p:spPr>
        <p:txBody>
          <a:bodyPr wrap="square"/>
          <a:lstStyle/>
          <a:p>
            <a:r>
              <a:rPr lang="en-US" sz="1900">
                <a:solidFill>
                  <a:srgbClr val="0A3945"/>
                </a:solidFill>
              </a:rPr>
              <a:t>Sector: ICT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9600000" y="6350000"/>
            <a:ext cx="2000000" cy="260000"/>
          </a:xfrm>
        </p:spPr>
        <p:txBody>
          <a:bodyPr wrap="square"/>
          <a:lstStyle/>
          <a:p>
            <a:r>
              <a:rPr lang="en-US" sz="1100">
                <a:solidFill>
                  <a:srgbClr val="78909C"/>
                </a:solidFill>
              </a:rPr>
              <a:t>Grantly /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230000" cy="6858000"/>
          </a:xfrm>
          <a:prstGeom prst="rect">
            <a:avLst/>
          </a:prstGeom>
          <a:solidFill>
            <a:srgbClr val="494BD6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760000" y="840000"/>
            <a:ext cx="10000000" cy="850000"/>
          </a:xfrm>
        </p:spPr>
        <p:txBody>
          <a:bodyPr wrap="square"/>
          <a:lstStyle/>
          <a:p>
            <a:r>
              <a:rPr lang="en-US" sz="3400" b="1">
                <a:solidFill>
                  <a:srgbClr val="0A3945"/>
                </a:solidFill>
              </a:rPr>
              <a:t>Company Snapshot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850000" y="2350000"/>
            <a:ext cx="5200000" cy="3200000"/>
          </a:xfrm>
        </p:spPr>
        <p:txBody>
          <a:bodyPr wrap="square"/>
          <a:lstStyle/>
          <a:p>
            <a:pPr marL="360000" indent="-180000">
              <a:buChar char="•"/>
            </a:pPr>
            <a:r>
              <a:rPr lang="en-US" sz="2000">
                <a:solidFill>
                  <a:srgbClr val="263238"/>
                </a:solidFill>
              </a:rPr>
              <a:t>YAP Sdn Bhd operates in ICT.</a:t>
            </a:r>
            <a:endParaRPr lang="en-US" sz="2000"/>
          </a:p>
          <a:p>
            <a:pPr marL="360000" indent="-180000">
              <a:buChar char="•"/>
            </a:pPr>
            <a:r>
              <a:rPr lang="en-US" sz="2000">
                <a:solidFill>
                  <a:srgbClr val="263238"/>
                </a:solidFill>
              </a:rPr>
              <a:t>Team size: 5 full-time employees.</a:t>
            </a:r>
            <a:endParaRPr lang="en-US" sz="2000"/>
          </a:p>
          <a:p>
            <a:pPr marL="360000" indent="-180000">
              <a:buChar char="•"/>
            </a:pPr>
            <a:r>
              <a:rPr lang="en-US" sz="2000">
                <a:solidFill>
                  <a:srgbClr val="263238"/>
                </a:solidFill>
              </a:rPr>
              <a:t>Operating history: 24 months.</a:t>
            </a:r>
            <a:endParaRPr lang="en-US" sz="2000"/>
          </a:p>
          <a:p>
            <a:pPr marL="360000" indent="-180000">
              <a:buChar char="•"/>
            </a:pPr>
            <a:r>
              <a:rPr lang="en-US" sz="2000">
                <a:solidFill>
                  <a:srgbClr val="263238"/>
                </a:solidFill>
              </a:rPr>
              <a:t>Ownership / nationality: Local.</a:t>
            </a:r>
            <a:endParaRPr lang="en-US" sz="2000"/>
          </a:p>
        </p:txBody>
      </p:sp>
      <p:sp>
        <p:nvSpPr>
          <p:cNvPr id="20" name="Shape 20"/>
          <p:cNvSpPr/>
          <p:nvPr/>
        </p:nvSpPr>
        <p:spPr>
          <a:xfrm>
            <a:off x="7000000" y="2200000"/>
            <a:ext cx="3600000" cy="3100000"/>
          </a:xfrm>
          <a:prstGeom prst="roundRect">
            <a:avLst/>
          </a:prstGeom>
          <a:solidFill>
            <a:srgbClr val="EAF5F7"/>
          </a:solidFill>
          <a:ln w="12700">
            <a:solidFill>
              <a:srgbClr val="494BD6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7240000" y="2520000"/>
            <a:ext cx="3100000" cy="620000"/>
          </a:xfrm>
        </p:spPr>
        <p:txBody>
          <a:bodyPr wrap="square"/>
          <a:lstStyle/>
          <a:p>
            <a:r>
              <a:rPr lang="en-US" sz="1900" b="1">
                <a:solidFill>
                  <a:srgbClr val="0A3945"/>
                </a:solidFill>
              </a:rPr>
              <a:t>YAP Sdn Bhd operates in ICT.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240000" y="3340000"/>
            <a:ext cx="3100000" cy="620000"/>
          </a:xfrm>
        </p:spPr>
        <p:txBody>
          <a:bodyPr wrap="square"/>
          <a:lstStyle/>
          <a:p>
            <a:r>
              <a:rPr lang="en-US" sz="1900">
                <a:solidFill>
                  <a:srgbClr val="0A3945"/>
                </a:solidFill>
              </a:rPr>
              <a:t>Team size: 5 full-time employees.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9600000" y="6350000"/>
            <a:ext cx="2000000" cy="260000"/>
          </a:xfrm>
        </p:spPr>
        <p:txBody>
          <a:bodyPr wrap="square"/>
          <a:lstStyle/>
          <a:p>
            <a:r>
              <a:rPr lang="en-US" sz="1100">
                <a:solidFill>
                  <a:srgbClr val="78909C"/>
                </a:solidFill>
              </a:rPr>
              <a:t>Grantly /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230000" cy="6858000"/>
          </a:xfrm>
          <a:prstGeom prst="rect">
            <a:avLst/>
          </a:prstGeom>
          <a:solidFill>
            <a:srgbClr val="00A676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760000" y="840000"/>
            <a:ext cx="10000000" cy="850000"/>
          </a:xfrm>
        </p:spPr>
        <p:txBody>
          <a:bodyPr wrap="square"/>
          <a:lstStyle/>
          <a:p>
            <a:r>
              <a:rPr lang="en-US" sz="3400" b="1">
                <a:solidFill>
                  <a:srgbClr val="0A3945"/>
                </a:solidFill>
              </a:rPr>
              <a:t>Project Need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850000" y="2350000"/>
            <a:ext cx="5200000" cy="3200000"/>
          </a:xfrm>
        </p:spPr>
        <p:txBody>
          <a:bodyPr wrap="square"/>
          <a:lstStyle/>
          <a:p>
            <a:pPr marL="360000" indent="-180000">
              <a:buChar char="•"/>
            </a:pPr>
            <a:r>
              <a:rPr lang="en-US" sz="2000">
                <a:solidFill>
                  <a:srgbClr val="263238"/>
                </a:solidFill>
              </a:rPr>
              <a:t>A local ICT SME building digital workflow tools for Malaysian SMEs.</a:t>
            </a:r>
            <a:endParaRPr lang="en-US" sz="2000"/>
          </a:p>
          <a:p>
            <a:pPr marL="360000" indent="-180000">
              <a:buChar char="•"/>
            </a:pPr>
            <a:r>
              <a:rPr lang="en-US" sz="2000">
                <a:solidFill>
                  <a:srgbClr val="263238"/>
                </a:solidFill>
              </a:rPr>
              <a:t>The project targets a practical business growth or digitalisation gap.</a:t>
            </a:r>
            <a:endParaRPr lang="en-US" sz="2000"/>
          </a:p>
          <a:p>
            <a:pPr marL="360000" indent="-180000">
              <a:buChar char="•"/>
            </a:pPr>
            <a:r>
              <a:rPr lang="en-US" sz="2000">
                <a:solidFill>
                  <a:srgbClr val="263238"/>
                </a:solidFill>
              </a:rPr>
              <a:t>Grant support reduces execution risk and accelerates measurable delivery.</a:t>
            </a:r>
            <a:endParaRPr lang="en-US" sz="2000"/>
          </a:p>
        </p:txBody>
      </p:sp>
      <p:sp>
        <p:nvSpPr>
          <p:cNvPr id="20" name="Shape 20"/>
          <p:cNvSpPr/>
          <p:nvPr/>
        </p:nvSpPr>
        <p:spPr>
          <a:xfrm>
            <a:off x="7000000" y="2200000"/>
            <a:ext cx="3600000" cy="3100000"/>
          </a:xfrm>
          <a:prstGeom prst="roundRect">
            <a:avLst/>
          </a:prstGeom>
          <a:solidFill>
            <a:srgbClr val="EAF5F7"/>
          </a:solidFill>
          <a:ln w="12700">
            <a:solidFill>
              <a:srgbClr val="00A676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7240000" y="2520000"/>
            <a:ext cx="3100000" cy="620000"/>
          </a:xfrm>
        </p:spPr>
        <p:txBody>
          <a:bodyPr wrap="square"/>
          <a:lstStyle/>
          <a:p>
            <a:r>
              <a:rPr lang="en-US" sz="1900" b="1">
                <a:solidFill>
                  <a:srgbClr val="0A3945"/>
                </a:solidFill>
              </a:rPr>
              <a:t>A local ICT SME building digital workflow tools for Malaysian SMEs.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240000" y="3340000"/>
            <a:ext cx="3100000" cy="620000"/>
          </a:xfrm>
        </p:spPr>
        <p:txBody>
          <a:bodyPr wrap="square"/>
          <a:lstStyle/>
          <a:p>
            <a:r>
              <a:rPr lang="en-US" sz="1900">
                <a:solidFill>
                  <a:srgbClr val="0A3945"/>
                </a:solidFill>
              </a:rPr>
              <a:t>The project targets a practical business growth or digitalisation gap.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9600000" y="6350000"/>
            <a:ext cx="2000000" cy="260000"/>
          </a:xfrm>
        </p:spPr>
        <p:txBody>
          <a:bodyPr wrap="square"/>
          <a:lstStyle/>
          <a:p>
            <a:r>
              <a:rPr lang="en-US" sz="1100">
                <a:solidFill>
                  <a:srgbClr val="78909C"/>
                </a:solidFill>
              </a:rPr>
              <a:t>Grantly /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230000" cy="6858000"/>
          </a:xfrm>
          <a:prstGeom prst="rect">
            <a:avLst/>
          </a:prstGeom>
          <a:solidFill>
            <a:srgbClr val="E09F3E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760000" y="840000"/>
            <a:ext cx="10000000" cy="850000"/>
          </a:xfrm>
        </p:spPr>
        <p:txBody>
          <a:bodyPr wrap="square"/>
          <a:lstStyle/>
          <a:p>
            <a:r>
              <a:rPr lang="en-US" sz="3400" b="1">
                <a:solidFill>
                  <a:srgbClr val="0A3945"/>
                </a:solidFill>
              </a:rPr>
              <a:t>Proposed Solution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850000" y="2350000"/>
            <a:ext cx="5200000" cy="3200000"/>
          </a:xfrm>
        </p:spPr>
        <p:txBody>
          <a:bodyPr wrap="square"/>
          <a:lstStyle/>
          <a:p>
            <a:pPr marL="360000" indent="-180000">
              <a:buChar char="•"/>
            </a:pPr>
            <a:r>
              <a:rPr lang="en-US" sz="2000">
                <a:solidFill>
                  <a:srgbClr val="263238"/>
                </a:solidFill>
              </a:rPr>
              <a:t>Build and scale a focused solution within ICT.</a:t>
            </a:r>
            <a:endParaRPr lang="en-US" sz="2000"/>
          </a:p>
          <a:p>
            <a:pPr marL="360000" indent="-180000">
              <a:buChar char="•"/>
            </a:pPr>
            <a:r>
              <a:rPr lang="en-US" sz="2000">
                <a:solidFill>
                  <a:srgbClr val="263238"/>
                </a:solidFill>
              </a:rPr>
              <a:t>Prioritise internal capability, repeatable delivery, and accountable milestones.</a:t>
            </a:r>
            <a:endParaRPr lang="en-US" sz="2000"/>
          </a:p>
          <a:p>
            <a:pPr marL="360000" indent="-180000">
              <a:buChar char="•"/>
            </a:pPr>
            <a:r>
              <a:rPr lang="en-US" sz="2000">
                <a:solidFill>
                  <a:srgbClr val="263238"/>
                </a:solidFill>
              </a:rPr>
              <a:t>End-user partner status: Confirmed.</a:t>
            </a:r>
            <a:endParaRPr lang="en-US" sz="2000"/>
          </a:p>
        </p:txBody>
      </p:sp>
      <p:sp>
        <p:nvSpPr>
          <p:cNvPr id="20" name="Shape 20"/>
          <p:cNvSpPr/>
          <p:nvPr/>
        </p:nvSpPr>
        <p:spPr>
          <a:xfrm>
            <a:off x="7000000" y="2200000"/>
            <a:ext cx="3600000" cy="3100000"/>
          </a:xfrm>
          <a:prstGeom prst="roundRect">
            <a:avLst/>
          </a:prstGeom>
          <a:solidFill>
            <a:srgbClr val="EAF5F7"/>
          </a:solidFill>
          <a:ln w="12700">
            <a:solidFill>
              <a:srgbClr val="E09F3E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7240000" y="2520000"/>
            <a:ext cx="3100000" cy="620000"/>
          </a:xfrm>
        </p:spPr>
        <p:txBody>
          <a:bodyPr wrap="square"/>
          <a:lstStyle/>
          <a:p>
            <a:r>
              <a:rPr lang="en-US" sz="1900" b="1">
                <a:solidFill>
                  <a:srgbClr val="0A3945"/>
                </a:solidFill>
              </a:rPr>
              <a:t>Build and scale a focused solution within ICT.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240000" y="3340000"/>
            <a:ext cx="3100000" cy="620000"/>
          </a:xfrm>
        </p:spPr>
        <p:txBody>
          <a:bodyPr wrap="square"/>
          <a:lstStyle/>
          <a:p>
            <a:r>
              <a:rPr lang="en-US" sz="1900">
                <a:solidFill>
                  <a:srgbClr val="0A3945"/>
                </a:solidFill>
              </a:rPr>
              <a:t>Prioritise internal capability, repeatable delivery, and accountable milestones.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9600000" y="6350000"/>
            <a:ext cx="2000000" cy="260000"/>
          </a:xfrm>
        </p:spPr>
        <p:txBody>
          <a:bodyPr wrap="square"/>
          <a:lstStyle/>
          <a:p>
            <a:r>
              <a:rPr lang="en-US" sz="1100">
                <a:solidFill>
                  <a:srgbClr val="78909C"/>
                </a:solidFill>
              </a:rPr>
              <a:t>Grantly /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230000" cy="6858000"/>
          </a:xfrm>
          <a:prstGeom prst="rect">
            <a:avLst/>
          </a:prstGeom>
          <a:solidFill>
            <a:srgbClr val="0087A5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760000" y="840000"/>
            <a:ext cx="10000000" cy="850000"/>
          </a:xfrm>
        </p:spPr>
        <p:txBody>
          <a:bodyPr wrap="square"/>
          <a:lstStyle/>
          <a:p>
            <a:r>
              <a:rPr lang="en-US" sz="3400" b="1">
                <a:solidFill>
                  <a:srgbClr val="0A3945"/>
                </a:solidFill>
              </a:rPr>
              <a:t>Budget And Funding Ask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850000" y="2350000"/>
            <a:ext cx="5200000" cy="3200000"/>
          </a:xfrm>
        </p:spPr>
        <p:txBody>
          <a:bodyPr wrap="square"/>
          <a:lstStyle/>
          <a:p>
            <a:pPr marL="360000" indent="-180000">
              <a:buChar char="•"/>
            </a:pPr>
            <a:r>
              <a:rPr lang="en-US" sz="2000">
                <a:solidFill>
                  <a:srgbClr val="263238"/>
                </a:solidFill>
              </a:rPr>
              <a:t>Total project cost: RM 500,000.</a:t>
            </a:r>
            <a:endParaRPr lang="en-US" sz="2000"/>
          </a:p>
          <a:p>
            <a:pPr marL="360000" indent="-180000">
              <a:buChar char="•"/>
            </a:pPr>
            <a:r>
              <a:rPr lang="en-US" sz="2000">
                <a:solidFill>
                  <a:srgbClr val="263238"/>
                </a:solidFill>
              </a:rPr>
              <a:t>Grant funding requested: RM 250,000.</a:t>
            </a:r>
            <a:endParaRPr lang="en-US" sz="2000"/>
          </a:p>
          <a:p>
            <a:pPr marL="360000" indent="-180000">
              <a:buChar char="•"/>
            </a:pPr>
            <a:r>
              <a:rPr lang="en-US" sz="2000">
                <a:solidFill>
                  <a:srgbClr val="263238"/>
                </a:solidFill>
              </a:rPr>
              <a:t>Outsourced cost: RM 20,000.</a:t>
            </a:r>
            <a:endParaRPr lang="en-US" sz="2000"/>
          </a:p>
          <a:p>
            <a:pPr marL="360000" indent="-180000">
              <a:buChar char="•"/>
            </a:pPr>
            <a:r>
              <a:rPr lang="en-US" sz="2000">
                <a:solidFill>
                  <a:srgbClr val="263238"/>
                </a:solidFill>
              </a:rPr>
              <a:t>Funds will be used for project execution, validation, and go-to-market readiness.</a:t>
            </a:r>
            <a:endParaRPr lang="en-US" sz="2000"/>
          </a:p>
        </p:txBody>
      </p:sp>
      <p:sp>
        <p:nvSpPr>
          <p:cNvPr id="20" name="Shape 20"/>
          <p:cNvSpPr/>
          <p:nvPr/>
        </p:nvSpPr>
        <p:spPr>
          <a:xfrm>
            <a:off x="7000000" y="2200000"/>
            <a:ext cx="3600000" cy="3100000"/>
          </a:xfrm>
          <a:prstGeom prst="roundRect">
            <a:avLst/>
          </a:prstGeom>
          <a:solidFill>
            <a:srgbClr val="EAF5F7"/>
          </a:solidFill>
          <a:ln w="12700">
            <a:solidFill>
              <a:srgbClr val="0087A5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7240000" y="2520000"/>
            <a:ext cx="3100000" cy="620000"/>
          </a:xfrm>
        </p:spPr>
        <p:txBody>
          <a:bodyPr wrap="square"/>
          <a:lstStyle/>
          <a:p>
            <a:r>
              <a:rPr lang="en-US" sz="1900" b="1">
                <a:solidFill>
                  <a:srgbClr val="0A3945"/>
                </a:solidFill>
              </a:rPr>
              <a:t>Total project cost: RM 500,000.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240000" y="3340000"/>
            <a:ext cx="3100000" cy="620000"/>
          </a:xfrm>
        </p:spPr>
        <p:txBody>
          <a:bodyPr wrap="square"/>
          <a:lstStyle/>
          <a:p>
            <a:r>
              <a:rPr lang="en-US" sz="1900">
                <a:solidFill>
                  <a:srgbClr val="0A3945"/>
                </a:solidFill>
              </a:rPr>
              <a:t>Grant funding requested: RM 250,000.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9600000" y="6350000"/>
            <a:ext cx="2000000" cy="260000"/>
          </a:xfrm>
        </p:spPr>
        <p:txBody>
          <a:bodyPr wrap="square"/>
          <a:lstStyle/>
          <a:p>
            <a:r>
              <a:rPr lang="en-US" sz="1100">
                <a:solidFill>
                  <a:srgbClr val="78909C"/>
                </a:solidFill>
              </a:rPr>
              <a:t>Grantly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230000" cy="6858000"/>
          </a:xfrm>
          <a:prstGeom prst="rect">
            <a:avLst/>
          </a:prstGeom>
          <a:solidFill>
            <a:srgbClr val="494BD6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760000" y="840000"/>
            <a:ext cx="10000000" cy="850000"/>
          </a:xfrm>
        </p:spPr>
        <p:txBody>
          <a:bodyPr wrap="square"/>
          <a:lstStyle/>
          <a:p>
            <a:r>
              <a:rPr lang="en-US" sz="3400" b="1">
                <a:solidFill>
                  <a:srgbClr val="0A3945"/>
                </a:solidFill>
              </a:rPr>
              <a:t>Grant Alignment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850000" y="2350000"/>
            <a:ext cx="5200000" cy="3200000"/>
          </a:xfrm>
        </p:spPr>
        <p:txBody>
          <a:bodyPr wrap="square"/>
          <a:lstStyle/>
          <a:p>
            <a:pPr marL="360000" indent="-180000">
              <a:buChar char="•"/>
            </a:pPr>
            <a:r>
              <a:rPr lang="en-US" sz="2000">
                <a:solidFill>
                  <a:srgbClr val="263238"/>
                </a:solidFill>
              </a:rPr>
              <a:t>Aligned to MDEC MDCG by MDEC.</a:t>
            </a:r>
            <a:endParaRPr lang="en-US" sz="2000"/>
          </a:p>
          <a:p>
            <a:pPr marL="360000" indent="-180000">
              <a:buChar char="•"/>
            </a:pPr>
            <a:r>
              <a:rPr lang="en-US" sz="2000">
                <a:solidFill>
                  <a:srgbClr val="263238"/>
                </a:solidFill>
              </a:rPr>
              <a:t>Relevant sector focus: ICT.</a:t>
            </a:r>
            <a:endParaRPr lang="en-US" sz="2000"/>
          </a:p>
          <a:p>
            <a:pPr marL="360000" indent="-180000">
              <a:buChar char="•"/>
            </a:pPr>
            <a:r>
              <a:rPr lang="en-US" sz="2000">
                <a:solidFill>
                  <a:srgbClr val="263238"/>
                </a:solidFill>
              </a:rPr>
              <a:t>Company profile and required documents support eligibility review.</a:t>
            </a:r>
            <a:endParaRPr lang="en-US" sz="2000"/>
          </a:p>
          <a:p>
            <a:pPr marL="360000" indent="-180000">
              <a:buChar char="•"/>
            </a:pPr>
            <a:r>
              <a:rPr lang="en-US" sz="2000">
                <a:solidFill>
                  <a:srgbClr val="263238"/>
                </a:solidFill>
              </a:rPr>
              <a:t>Manual portal submission remains under the founder's control.</a:t>
            </a:r>
            <a:endParaRPr lang="en-US" sz="2000"/>
          </a:p>
        </p:txBody>
      </p:sp>
      <p:sp>
        <p:nvSpPr>
          <p:cNvPr id="20" name="Shape 20"/>
          <p:cNvSpPr/>
          <p:nvPr/>
        </p:nvSpPr>
        <p:spPr>
          <a:xfrm>
            <a:off x="7000000" y="2200000"/>
            <a:ext cx="3600000" cy="3100000"/>
          </a:xfrm>
          <a:prstGeom prst="roundRect">
            <a:avLst/>
          </a:prstGeom>
          <a:solidFill>
            <a:srgbClr val="EAF5F7"/>
          </a:solidFill>
          <a:ln w="12700">
            <a:solidFill>
              <a:srgbClr val="494BD6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7240000" y="2520000"/>
            <a:ext cx="3100000" cy="620000"/>
          </a:xfrm>
        </p:spPr>
        <p:txBody>
          <a:bodyPr wrap="square"/>
          <a:lstStyle/>
          <a:p>
            <a:r>
              <a:rPr lang="en-US" sz="1900" b="1">
                <a:solidFill>
                  <a:srgbClr val="0A3945"/>
                </a:solidFill>
              </a:rPr>
              <a:t>Aligned to MDEC MDCG by MDEC.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240000" y="3340000"/>
            <a:ext cx="3100000" cy="620000"/>
          </a:xfrm>
        </p:spPr>
        <p:txBody>
          <a:bodyPr wrap="square"/>
          <a:lstStyle/>
          <a:p>
            <a:r>
              <a:rPr lang="en-US" sz="1900">
                <a:solidFill>
                  <a:srgbClr val="0A3945"/>
                </a:solidFill>
              </a:rPr>
              <a:t>Relevant sector focus: ICT.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9600000" y="6350000"/>
            <a:ext cx="2000000" cy="260000"/>
          </a:xfrm>
        </p:spPr>
        <p:txBody>
          <a:bodyPr wrap="square"/>
          <a:lstStyle/>
          <a:p>
            <a:r>
              <a:rPr lang="en-US" sz="1100">
                <a:solidFill>
                  <a:srgbClr val="78909C"/>
                </a:solidFill>
              </a:rPr>
              <a:t>Grantly /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230000" cy="6858000"/>
          </a:xfrm>
          <a:prstGeom prst="rect">
            <a:avLst/>
          </a:prstGeom>
          <a:solidFill>
            <a:srgbClr val="00A676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760000" y="840000"/>
            <a:ext cx="10000000" cy="850000"/>
          </a:xfrm>
        </p:spPr>
        <p:txBody>
          <a:bodyPr wrap="square"/>
          <a:lstStyle/>
          <a:p>
            <a:r>
              <a:rPr lang="en-US" sz="3400" b="1">
                <a:solidFill>
                  <a:srgbClr val="0A3945"/>
                </a:solidFill>
              </a:rPr>
              <a:t>Closing Request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850000" y="2350000"/>
            <a:ext cx="5200000" cy="3200000"/>
          </a:xfrm>
        </p:spPr>
        <p:txBody>
          <a:bodyPr wrap="square"/>
          <a:lstStyle/>
          <a:p>
            <a:pPr marL="360000" indent="-180000">
              <a:buChar char="•"/>
            </a:pPr>
            <a:r>
              <a:rPr lang="en-US" sz="2000">
                <a:solidFill>
                  <a:srgbClr val="263238"/>
                </a:solidFill>
              </a:rPr>
              <a:t>YAP Sdn Bhd is requesting RM 250,000 to execute this project.</a:t>
            </a:r>
            <a:endParaRPr lang="en-US" sz="2000"/>
          </a:p>
          <a:p>
            <a:pPr marL="360000" indent="-180000">
              <a:buChar char="•"/>
            </a:pPr>
            <a:r>
              <a:rPr lang="en-US" sz="2000">
                <a:solidFill>
                  <a:srgbClr val="263238"/>
                </a:solidFill>
              </a:rPr>
              <a:t>The team is ready to deliver a focused, measurable grant-funded outcome.</a:t>
            </a:r>
            <a:endParaRPr lang="en-US" sz="2000"/>
          </a:p>
          <a:p>
            <a:pPr marL="360000" indent="-180000">
              <a:buChar char="•"/>
            </a:pPr>
            <a:r>
              <a:rPr lang="en-US" sz="2000">
                <a:solidFill>
                  <a:srgbClr val="263238"/>
                </a:solidFill>
              </a:rPr>
              <a:t>Thank you for considering this application.</a:t>
            </a:r>
            <a:endParaRPr lang="en-US" sz="2000"/>
          </a:p>
        </p:txBody>
      </p:sp>
      <p:sp>
        <p:nvSpPr>
          <p:cNvPr id="20" name="Shape 20"/>
          <p:cNvSpPr/>
          <p:nvPr/>
        </p:nvSpPr>
        <p:spPr>
          <a:xfrm>
            <a:off x="7000000" y="2200000"/>
            <a:ext cx="3600000" cy="3100000"/>
          </a:xfrm>
          <a:prstGeom prst="roundRect">
            <a:avLst/>
          </a:prstGeom>
          <a:solidFill>
            <a:srgbClr val="EAF5F7"/>
          </a:solidFill>
          <a:ln w="12700">
            <a:solidFill>
              <a:srgbClr val="00A676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7240000" y="2520000"/>
            <a:ext cx="3100000" cy="620000"/>
          </a:xfrm>
        </p:spPr>
        <p:txBody>
          <a:bodyPr wrap="square"/>
          <a:lstStyle/>
          <a:p>
            <a:r>
              <a:rPr lang="en-US" sz="1900" b="1">
                <a:solidFill>
                  <a:srgbClr val="0A3945"/>
                </a:solidFill>
              </a:rPr>
              <a:t>YAP Sdn Bhd is requesting RM 250,000 to execute this project.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240000" y="3340000"/>
            <a:ext cx="3100000" cy="620000"/>
          </a:xfrm>
        </p:spPr>
        <p:txBody>
          <a:bodyPr wrap="square"/>
          <a:lstStyle/>
          <a:p>
            <a:r>
              <a:rPr lang="en-US" sz="1900">
                <a:solidFill>
                  <a:srgbClr val="0A3945"/>
                </a:solidFill>
              </a:rPr>
              <a:t>The team is ready to deliver a focused, measurable grant-funded outcome.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9600000" y="6350000"/>
            <a:ext cx="2000000" cy="260000"/>
          </a:xfrm>
        </p:spPr>
        <p:txBody>
          <a:bodyPr wrap="square"/>
          <a:lstStyle/>
          <a:p>
            <a:r>
              <a:rPr lang="en-US" sz="1100">
                <a:solidFill>
                  <a:srgbClr val="78909C"/>
                </a:solidFill>
              </a:rPr>
              <a:t>Grantly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ntly">
  <a:themeElements>
    <a:clrScheme name="Grantly">
      <a:dk1>
        <a:srgbClr val="0A3945"/>
      </a:dk1>
      <a:lt1>
        <a:srgbClr val="FFFFFF"/>
      </a:lt1>
      <a:dk2>
        <a:srgbClr val="263238"/>
      </a:dk2>
      <a:lt2>
        <a:srgbClr val="F8FBFC"/>
      </a:lt2>
      <a:accent1>
        <a:srgbClr val="0087A5"/>
      </a:accent1>
      <a:accent2>
        <a:srgbClr val="494BD6"/>
      </a:accent2>
      <a:accent3>
        <a:srgbClr val="00A676"/>
      </a:accent3>
      <a:accent4>
        <a:srgbClr val="E09F3E"/>
      </a:accent4>
      <a:accent5>
        <a:srgbClr val="516071"/>
      </a:accent5>
      <a:accent6>
        <a:srgbClr val="B0BEC5"/>
      </a:accent6>
      <a:hlink>
        <a:srgbClr val="0087A5"/>
      </a:hlink>
      <a:folHlink>
        <a:srgbClr val="494BD6"/>
      </a:folHlink>
    </a:clrScheme>
    <a:fontScheme name="Grantly">
      <a:majorFont>
        <a:latin typeface="Aptos Display"/>
      </a:majorFont>
      <a:minorFont>
        <a:latin typeface="Aptos"/>
      </a:minorFont>
    </a:fontScheme>
    <a:fmtScheme name="Grantly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Grantly</Application>
  <PresentationFormat>Wide</PresentationFormat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Grantly Pitch Deck</dc:title>
  <dc:creator>Grantly Drafter Agent</dc:creator>
  <cp:lastModifiedBy>Grantly Drafter Agent</cp:lastModifiedBy>
  <dcterms:created xsi:type="dcterms:W3CDTF">2026-04-24T18:46:57+00:00</dcterms:created>
  <dcterms:modified xsi:type="dcterms:W3CDTF">2026-04-24T18:46:57+00:00</dcterms:modified>
</cp:coreProperties>
</file>